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2" r:id="rId5"/>
    <p:sldId id="359" r:id="rId6"/>
    <p:sldId id="382" r:id="rId7"/>
    <p:sldId id="375" r:id="rId8"/>
    <p:sldId id="386" r:id="rId9"/>
    <p:sldId id="377" r:id="rId10"/>
    <p:sldId id="385" r:id="rId11"/>
    <p:sldId id="384" r:id="rId12"/>
    <p:sldId id="380" r:id="rId13"/>
    <p:sldId id="372" r:id="rId14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A8081-B9FA-ACC6-C9F7-661A19F4A61B}" v="26" dt="2026-04-03T11:56:23.484"/>
    <p1510:client id="{4D606979-0207-407D-86CC-D12180D5552E}" v="640" dt="2026-04-03T11:51:34.790"/>
    <p1510:client id="{7AE397EB-DCC2-2E33-2502-35358B9E210C}" v="126" dt="2026-04-03T11:36:59.352"/>
    <p1510:client id="{DE4CBFF4-8C6B-4240-B34C-E6008D9B4186}" v="1" dt="2026-04-03T12:23:36.131"/>
    <p1510:client id="{ED17762A-2678-19B2-FF70-96D05AAFE758}" v="177" dt="2026-04-03T11:28:46.100"/>
  </p1510:revLst>
</p1510:revInfo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7" autoAdjust="0"/>
    <p:restoredTop sz="95388" autoAdjust="0"/>
  </p:normalViewPr>
  <p:slideViewPr>
    <p:cSldViewPr snapToGrid="0" snapToObjects="1" showGuides="1">
      <p:cViewPr varScale="1">
        <p:scale>
          <a:sx n="70" d="100"/>
          <a:sy n="70" d="100"/>
        </p:scale>
        <p:origin x="42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F384DC7D-6AEA-4694-83C0-81E5019B1120}" type="datetime1">
              <a:rPr lang="fr-FR" smtClean="0"/>
              <a:t>03/04/2026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9E9D61A1-75D9-49F7-83EB-F5872642613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325E0694-821B-4FB6-88D9-E5E64C7A1630}" type="datetime1">
              <a:rPr lang="fr-FR" smtClean="0"/>
              <a:t>03/04/2026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DEF75CB5-5666-5049-9AE0-38EFD385C21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fld id="{DEF75CB5-5666-5049-9AE0-38EFD385C21E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lang="fr-FR"/>
              </a:pPr>
              <a:t>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1FE3-D372-79EA-2BCA-ACE64505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9AEF7A4-45C0-5EEA-45E6-228969697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4CCC333-1389-3858-D420-CA915C465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D9B2637-B2A8-6BF5-14E8-01BF136F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495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5E3BE-B3F9-D9BD-0EFD-3D66D6C0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E848AE23-A7C4-FB9E-980E-08B7E6DB7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37B3DDC-FBCF-0A1E-B576-F474AD82E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49ABA1-7D49-17B3-0FEC-02A59A4CB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433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CA69E-30EE-F1FF-05C3-78738714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BF291B2-E8EE-4C12-9114-5A91B5EFD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F2E2AA0-2540-77FC-775C-9E46311CB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F41A7B-DDC7-41E5-5A32-DB2A4121F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3643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5EC4-2408-354C-6D8C-B9C1571D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8721881B-0F10-83DA-74D7-E0E1BEDDB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5DACF5A-4565-B504-EA50-8D34F6D2E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C70D81-FE3E-AC04-5D53-48A11D01C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809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9213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EF75CB5-5666-5049-9AE0-38EFD385C21E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sous-titr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rtlCol="0" anchor="b" anchorCtr="0">
            <a:noAutofit/>
          </a:bodyPr>
          <a:lstStyle>
            <a:lvl1pPr algn="ctr">
              <a:defRPr lang="fr-F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uniquement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rtlCol="0" anchor="ctr" anchorCtr="0">
            <a:noAutofit/>
          </a:bodyPr>
          <a:lstStyle>
            <a:lvl1pPr algn="ctr">
              <a:defRPr lang="fr-FR"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 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6" name="Espace réservé du contenu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e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9" name="Graphique 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 anchor="b"/>
          <a:lstStyle>
            <a:lvl1pPr>
              <a:defRPr lang="fr-FR"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rtlCol="0" anchor="b">
            <a:noAutofit/>
          </a:bodyPr>
          <a:lstStyle>
            <a:lvl1pPr algn="ctr">
              <a:defRPr lang="fr-FR" sz="3200" cap="all" spc="3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Sous-titr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rtlCol="0" anchor="b">
            <a:noAutofit/>
          </a:bodyPr>
          <a:lstStyle>
            <a:lvl1pPr algn="l">
              <a:defRPr lang="fr-FR" sz="2400" cap="all" spc="30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 rtlCol="0">
            <a:noAutofit/>
          </a:bodyPr>
          <a:lstStyle>
            <a:lvl1pPr marL="0" indent="0" algn="l">
              <a:buNone/>
              <a:defRPr lang="fr-FR"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 rtlCol="0"/>
          <a:lstStyle>
            <a:lvl1pPr algn="ctr"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et 2 colonnes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 rtlCol="0"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 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que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3" name="Graphique 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sme 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7" name="Graphique 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rtlCol="0" anchor="b"/>
          <a:lstStyle>
            <a:lvl1pPr algn="ctr">
              <a:defRPr lang="fr-FR"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 rtlCol="0">
            <a:noAutofit/>
          </a:bodyPr>
          <a:lstStyle>
            <a:lvl1pPr marL="0" indent="0" algn="ctr">
              <a:buNone/>
              <a:defRPr lang="fr-FR"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algn="ctr" rtl="0"/>
              <a:endParaRPr lang="fr-FR" dirty="0"/>
            </a:p>
          </p:txBody>
        </p:sp>
        <p:pic>
          <p:nvPicPr>
            <p:cNvPr id="6" name="Image 5" descr="Une spirale bleue et violette&#10;&#10;Description générée automatiquement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e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que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2" name="Graphique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3" name="Graphique 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que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  <p:sp>
            <p:nvSpPr>
              <p:cNvPr id="10" name="Graphique 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</p:grp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21" name="Espace réservé du contenu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que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Graphique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2" name="Graphique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 rtlCol="0"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lang="fr-FR"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lang="fr-FR"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lang="fr-F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lang="fr-FR"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 rtlCol="0"/>
          <a:lstStyle>
            <a:lvl1pPr algn="ctr"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2" name="Espace réservé au tableau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 rtlCol="0"/>
          <a:lstStyle>
            <a:lvl1pPr>
              <a:defRPr lang="fr-FR" sz="2400">
                <a:latin typeface="+mn-lt"/>
              </a:defRPr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contenu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 rtlCol="0"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lang="fr-FR"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lang="fr-FR" sz="1800" spc="0"/>
            </a:lvl4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 rtlCol="0"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lang="fr-FR"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lang="fr-FR"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lang="fr-FR"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2 colonnes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rtlCol="0" anchor="b">
            <a:noAutofit/>
          </a:bodyPr>
          <a:lstStyle>
            <a:lvl1pPr algn="l">
              <a:defRPr lang="fr-FR"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au tableau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 rtlCol="0"/>
          <a:lstStyle>
            <a:lvl1pPr>
              <a:defRPr lang="fr-FR" sz="2400">
                <a:latin typeface="+mn-lt"/>
              </a:defRPr>
            </a:lvl1pPr>
          </a:lstStyle>
          <a:p>
            <a:pPr rtl="0"/>
            <a:r>
              <a:rPr lang="fr-FR"/>
              <a:t>Cliquez sur l'icône pour ajouter un tableau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 rtlCol="0">
            <a:noAutofit/>
          </a:bodyPr>
          <a:lstStyle>
            <a:lvl1pPr algn="l">
              <a:defRPr lang="fr-FR" sz="1200" spc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>
            <a:noAutofit/>
          </a:bodyPr>
          <a:lstStyle>
            <a:lvl1pPr>
              <a:defRPr lang="fr-FR" sz="1200">
                <a:solidFill>
                  <a:schemeClr val="bg1"/>
                </a:solidFill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rmeture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e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e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algn="ctr" rtl="0"/>
                <a:endParaRPr lang="fr-FR" dirty="0"/>
              </a:p>
            </p:txBody>
          </p:sp>
          <p:sp>
            <p:nvSpPr>
              <p:cNvPr id="18" name="Graphique 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>
                <a:defPPr>
                  <a:defRPr lang="fr-FR"/>
                </a:defPPr>
              </a:lstStyle>
              <a:p>
                <a:pPr rtl="0"/>
                <a:endParaRPr lang="fr-FR" dirty="0"/>
              </a:p>
            </p:txBody>
          </p:sp>
        </p:grpSp>
        <p:pic>
          <p:nvPicPr>
            <p:cNvPr id="4" name="Espace réservé du contenu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rtlCol="0" anchor="b">
            <a:noAutofit/>
          </a:bodyPr>
          <a:lstStyle>
            <a:lvl1pPr>
              <a:defRPr lang="fr-FR" sz="3200" cap="all" baseline="0">
                <a:solidFill>
                  <a:schemeClr val="accent3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 rtlCol="0"/>
          <a:lstStyle>
            <a:lvl1pPr>
              <a:lnSpc>
                <a:spcPct val="120000"/>
              </a:lnSpc>
              <a:spcBef>
                <a:spcPts val="1000"/>
              </a:spcBef>
              <a:defRPr lang="fr-FR"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lang="fr-FR" sz="1200"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fr-FR"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pPr rtl="0"/>
            <a:fld id="{FE024F78-56A6-7740-B68D-8D4D026EDF3F}" type="slidenum">
              <a:rPr lang="fr-FR" smtClean="0"/>
              <a:pPr rtl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fr-FR"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lang="fr-FR"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rtlCol="0" anchor="b"/>
          <a:lstStyle>
            <a:defPPr>
              <a:defRPr lang="fr-FR"/>
            </a:defPPr>
          </a:lstStyle>
          <a:p>
            <a:pPr rtl="0"/>
            <a:r>
              <a:rPr lang="fr-FR" dirty="0"/>
              <a:t>SECURITE </a:t>
            </a:r>
            <a:r>
              <a:rPr lang="fr-FR" dirty="0" err="1"/>
              <a:t>iOT</a:t>
            </a:r>
            <a:endParaRPr lang="fr-FR" dirty="0"/>
          </a:p>
        </p:txBody>
      </p:sp>
      <p:sp>
        <p:nvSpPr>
          <p:cNvPr id="9" name="Sous-titr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PRÉSENTATION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Programme</a:t>
            </a:r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rtlCol="0" anchor="t"/>
          <a:lstStyle>
            <a:defPPr>
              <a:defRPr lang="fr-FR"/>
            </a:defPPr>
          </a:lstStyle>
          <a:p>
            <a:pPr rtl="0"/>
            <a:r>
              <a:rPr lang="fr-FR" dirty="0"/>
              <a:t>Résumé</a:t>
            </a:r>
          </a:p>
          <a:p>
            <a:pPr rtl="0"/>
            <a:r>
              <a:rPr lang="fr-FR" dirty="0"/>
              <a:t>Périmètre et méthodologie</a:t>
            </a:r>
          </a:p>
          <a:p>
            <a:pPr rtl="0"/>
            <a:r>
              <a:rPr lang="fr-FR"/>
              <a:t>Architecture</a:t>
            </a:r>
          </a:p>
          <a:p>
            <a:pPr rtl="0"/>
            <a:r>
              <a:rPr lang="fr-FR" dirty="0"/>
              <a:t>STRIDE </a:t>
            </a:r>
          </a:p>
          <a:p>
            <a:pPr rtl="0"/>
            <a:r>
              <a:rPr lang="fr-FR" dirty="0"/>
              <a:t>Vulnérabilités</a:t>
            </a:r>
          </a:p>
          <a:p>
            <a:pPr rtl="0"/>
            <a:r>
              <a:rPr lang="fr-FR" dirty="0"/>
              <a:t>Impact business</a:t>
            </a:r>
          </a:p>
          <a:p>
            <a:pPr rtl="0"/>
            <a:r>
              <a:rPr lang="fr-FR" dirty="0"/>
              <a:t>Recommandations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5FD0-AE3B-1CEE-1B07-5D9BA93D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3722F6-B6A4-DC47-CEC4-B9F0E59C2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>
                <a:cs typeface="Biome"/>
              </a:rPr>
              <a:t>Résumé - </a:t>
            </a:r>
            <a:r>
              <a:rPr lang="en-US" err="1">
                <a:latin typeface="Biome"/>
                <a:cs typeface="Biome"/>
              </a:rPr>
              <a:t>TPLink</a:t>
            </a:r>
            <a:r>
              <a:rPr lang="en-US">
                <a:latin typeface="Biome"/>
                <a:cs typeface="Biome"/>
              </a:rPr>
              <a:t> Archer AX23 v1 </a:t>
            </a:r>
            <a:endParaRPr lang="fr-FR">
              <a:latin typeface="Biome"/>
              <a:cs typeface="Biome"/>
            </a:endParaRPr>
          </a:p>
        </p:txBody>
      </p:sp>
      <p:pic>
        <p:nvPicPr>
          <p:cNvPr id="5" name="Espace réservé du contenu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5F9FB7B-9DB5-E236-B8F6-3BFBB4FD9A80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rcRect t="16722" r="113"/>
          <a:stretch>
            <a:fillRect/>
          </a:stretch>
        </p:blipFill>
        <p:spPr>
          <a:xfrm>
            <a:off x="2624616" y="2638310"/>
            <a:ext cx="9258614" cy="2606408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A2876B-9BB1-401F-27A1-D37437B1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74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Périmètre et méthodologie</a:t>
            </a:r>
          </a:p>
        </p:txBody>
      </p:sp>
      <p:pic>
        <p:nvPicPr>
          <p:cNvPr id="5" name="Espace réservé du contenu 4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21E1CF1C-838A-681A-9B70-FCE32071C2BA}"/>
              </a:ext>
            </a:extLst>
          </p:cNvPr>
          <p:cNvPicPr>
            <a:picLocks noGrp="1" noChangeAspect="1"/>
          </p:cNvPicPr>
          <p:nvPr>
            <p:ph sz="quarter" idx="31"/>
          </p:nvPr>
        </p:nvPicPr>
        <p:blipFill>
          <a:blip r:embed="rId3"/>
          <a:srcRect t="19710" r="-66"/>
          <a:stretch>
            <a:fillRect/>
          </a:stretch>
        </p:blipFill>
        <p:spPr>
          <a:xfrm>
            <a:off x="2573239" y="2695539"/>
            <a:ext cx="9309969" cy="2636962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F6DD-41D7-D51D-9DDB-DD171E35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FA0BEC-FB01-6E3C-7BE9-8CB376135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Architecture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EC806D-2775-FCAF-ECF1-95FF762E7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 anchor="ctr">
            <a:normAutofit/>
          </a:bodyPr>
          <a:lstStyle>
            <a:defPPr>
              <a:defRPr lang="fr-FR"/>
            </a:defPPr>
          </a:lstStyle>
          <a:p>
            <a:pPr rtl="0">
              <a:spcAft>
                <a:spcPts val="600"/>
              </a:spcAft>
            </a:pPr>
            <a:fld id="{FE024F78-56A6-7740-B68D-8D4D026EDF3F}" type="slidenum">
              <a:rPr lang="fr-FR" smtClean="0"/>
              <a:pPr rtl="0">
                <a:spcAft>
                  <a:spcPts val="600"/>
                </a:spcAft>
              </a:pPr>
              <a:t>5</a:t>
            </a:fld>
            <a:endParaRPr lang="fr-FR"/>
          </a:p>
        </p:txBody>
      </p:sp>
      <p:pic>
        <p:nvPicPr>
          <p:cNvPr id="4" name="Image 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4AB0382-BC47-B59D-2B59-F7D03FA38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0" y="2490273"/>
            <a:ext cx="9144000" cy="261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59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 err="1"/>
              <a:t>STrIDE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6</a:t>
            </a:fld>
            <a:endParaRPr lang="fr-FR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F2BF7A2-0E23-95BD-5A43-49B5792DB1EB}"/>
              </a:ext>
            </a:extLst>
          </p:cNvPr>
          <p:cNvSpPr/>
          <p:nvPr/>
        </p:nvSpPr>
        <p:spPr>
          <a:xfrm>
            <a:off x="784273" y="2410406"/>
            <a:ext cx="1513114" cy="2808514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r>
              <a:rPr lang="fr-FR" sz="1600" b="1"/>
              <a:t>S</a:t>
            </a:r>
            <a:r>
              <a:rPr lang="fr-FR" sz="1600"/>
              <a:t>poofing</a:t>
            </a:r>
          </a:p>
          <a:p>
            <a:pPr algn="ctr"/>
            <a:endParaRPr lang="fr-FR" sz="1600"/>
          </a:p>
          <a:p>
            <a:pPr algn="ctr"/>
            <a:r>
              <a:rPr lang="fr-FR" sz="1600"/>
              <a:t>Accès SSH sans mot de passe via le compte root configuré par défaut</a:t>
            </a:r>
            <a:r>
              <a:rPr lang="fr-FR"/>
              <a:t>.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269953C-5525-F7AA-E9B9-835C5FC782CF}"/>
              </a:ext>
            </a:extLst>
          </p:cNvPr>
          <p:cNvSpPr/>
          <p:nvPr/>
        </p:nvSpPr>
        <p:spPr>
          <a:xfrm>
            <a:off x="2674577" y="2410406"/>
            <a:ext cx="1513114" cy="280851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r>
              <a:rPr lang="fr-FR" sz="1600" b="1" err="1"/>
              <a:t>T</a:t>
            </a:r>
            <a:r>
              <a:rPr lang="fr-FR" sz="1600" err="1"/>
              <a:t>ampering</a:t>
            </a:r>
            <a:endParaRPr lang="fr-FR" sz="1600"/>
          </a:p>
          <a:p>
            <a:pPr algn="ctr"/>
            <a:endParaRPr lang="fr-FR" sz="1600"/>
          </a:p>
          <a:p>
            <a:pPr algn="ctr"/>
            <a:r>
              <a:rPr lang="fr-FR" sz="1600"/>
              <a:t>Utilisation de fonctions dangereuses (</a:t>
            </a:r>
            <a:r>
              <a:rPr lang="fr-FR" sz="1600" err="1"/>
              <a:t>strcpy</a:t>
            </a:r>
            <a:r>
              <a:rPr lang="fr-FR" sz="1600"/>
              <a:t>, </a:t>
            </a:r>
            <a:r>
              <a:rPr lang="fr-FR" sz="1600" err="1"/>
              <a:t>sprintf</a:t>
            </a:r>
            <a:r>
              <a:rPr lang="fr-FR" sz="1600"/>
              <a:t>)</a:t>
            </a:r>
          </a:p>
          <a:p>
            <a:pPr algn="ctr"/>
            <a:endParaRPr lang="fr-FR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12B8EF2-11EC-B2FD-3BB2-A2F8823B82D0}"/>
              </a:ext>
            </a:extLst>
          </p:cNvPr>
          <p:cNvSpPr/>
          <p:nvPr/>
        </p:nvSpPr>
        <p:spPr>
          <a:xfrm>
            <a:off x="4479060" y="2424403"/>
            <a:ext cx="1513114" cy="280851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err="1"/>
              <a:t>R</a:t>
            </a:r>
            <a:r>
              <a:rPr lang="fr-FR" sz="1600" err="1"/>
              <a:t>epudiation</a:t>
            </a:r>
            <a:endParaRPr lang="fr-FR" sz="1600"/>
          </a:p>
          <a:p>
            <a:pPr algn="ctr"/>
            <a:endParaRPr lang="fr-FR" sz="1600"/>
          </a:p>
          <a:p>
            <a:pPr algn="ctr"/>
            <a:r>
              <a:rPr lang="fr-FR" sz="1600"/>
              <a:t>Absence de traces d'audit si un attaquant accède au </a:t>
            </a:r>
            <a:r>
              <a:rPr lang="fr-FR" sz="1600" err="1"/>
              <a:t>shell</a:t>
            </a:r>
            <a:r>
              <a:rPr lang="fr-FR" sz="1600"/>
              <a:t> root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040CABD3-DDB2-86EF-9864-C27D80AFF275}"/>
              </a:ext>
            </a:extLst>
          </p:cNvPr>
          <p:cNvSpPr/>
          <p:nvPr/>
        </p:nvSpPr>
        <p:spPr>
          <a:xfrm>
            <a:off x="6472966" y="2424403"/>
            <a:ext cx="1513114" cy="280851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/>
              <a:t>I</a:t>
            </a:r>
            <a:r>
              <a:rPr lang="fr-FR" sz="1600"/>
              <a:t>nformation </a:t>
            </a:r>
            <a:r>
              <a:rPr lang="fr-FR" sz="1600" err="1"/>
              <a:t>disclosure</a:t>
            </a:r>
            <a:endParaRPr lang="fr-FR" sz="1600"/>
          </a:p>
          <a:p>
            <a:pPr algn="ctr"/>
            <a:endParaRPr lang="fr-FR" sz="1600"/>
          </a:p>
          <a:p>
            <a:pPr algn="ctr"/>
            <a:r>
              <a:rPr lang="fr-FR" sz="1600"/>
              <a:t>Présence de chaînes sensibles et de chemins système en clair</a:t>
            </a:r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A082920-627B-4ADD-5BA9-D2097F1B8D70}"/>
              </a:ext>
            </a:extLst>
          </p:cNvPr>
          <p:cNvSpPr/>
          <p:nvPr/>
        </p:nvSpPr>
        <p:spPr>
          <a:xfrm>
            <a:off x="8384414" y="2424403"/>
            <a:ext cx="1513114" cy="28085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b="1"/>
          </a:p>
          <a:p>
            <a:pPr algn="ctr"/>
            <a:endParaRPr lang="fr-FR" sz="1600" b="1"/>
          </a:p>
          <a:p>
            <a:pPr algn="ctr"/>
            <a:endParaRPr lang="fr-FR" sz="1600" b="1"/>
          </a:p>
          <a:p>
            <a:pPr algn="ctr"/>
            <a:r>
              <a:rPr lang="fr-FR" sz="1600" b="1"/>
              <a:t>D</a:t>
            </a:r>
            <a:r>
              <a:rPr lang="fr-FR" sz="1600"/>
              <a:t>os</a:t>
            </a:r>
          </a:p>
          <a:p>
            <a:pPr algn="ctr"/>
            <a:endParaRPr lang="fr-FR" sz="1600"/>
          </a:p>
          <a:p>
            <a:pPr algn="ctr"/>
            <a:r>
              <a:rPr lang="fr-FR" sz="1600"/>
              <a:t>Vulnérabilités de corruption mémoire dues</a:t>
            </a:r>
            <a:endParaRPr lang="fr-FR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9DC3B50-62DB-9002-9B07-98769A849ACC}"/>
              </a:ext>
            </a:extLst>
          </p:cNvPr>
          <p:cNvSpPr/>
          <p:nvPr/>
        </p:nvSpPr>
        <p:spPr>
          <a:xfrm>
            <a:off x="10167753" y="2410406"/>
            <a:ext cx="1513114" cy="28085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r>
              <a:rPr lang="fr-FR" sz="1600" b="1" err="1"/>
              <a:t>E</a:t>
            </a:r>
            <a:r>
              <a:rPr lang="fr-FR" sz="1600" err="1"/>
              <a:t>of</a:t>
            </a:r>
            <a:endParaRPr lang="fr-FR" sz="1600"/>
          </a:p>
          <a:p>
            <a:pPr algn="ctr"/>
            <a:endParaRPr lang="fr-FR" sz="1600"/>
          </a:p>
          <a:p>
            <a:pPr algn="ctr"/>
            <a:r>
              <a:rPr lang="en-US" sz="1600" b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Obtention d'un </a:t>
            </a:r>
            <a:r>
              <a:rPr lang="en-US" sz="1600" b="1" err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accès</a:t>
            </a:r>
            <a:r>
              <a:rPr lang="en-US" sz="1600" b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root sur la </a:t>
            </a:r>
            <a:r>
              <a:rPr lang="en-US" sz="1600" b="1" err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passerelle</a:t>
            </a:r>
            <a:r>
              <a:rPr lang="en-US" sz="1600" b="1">
                <a:solidFill>
                  <a:srgbClr val="E8EC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injection.</a:t>
            </a:r>
            <a:endParaRPr lang="en-US" sz="1600" b="1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41FBF-5B0D-6F7B-01E8-206CDB937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F0EA1-CBA0-307E-6D6B-553DD30E4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>
                <a:cs typeface="Biome"/>
              </a:rPr>
              <a:t>Vulnérabilités</a:t>
            </a:r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662C663-BB5B-F832-CFB8-0EB5D3CC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7</a:t>
            </a:fld>
            <a:endParaRPr lang="fr-FR"/>
          </a:p>
        </p:txBody>
      </p:sp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6091908-0A17-C32B-CE79-CA1A66DCE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03" y="2379213"/>
            <a:ext cx="82677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0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8882B-85D6-0464-E4E5-E6852FAD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C50FEA-6551-6BE5-BA92-FC908E10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>
                <a:cs typeface="Biome"/>
              </a:rPr>
              <a:t>IMPACT BUSSINESS et utilisateurs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8542387-239B-0FEA-E64B-16F84464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FE024F78-56A6-7740-B68D-8D4D026EDF3F}" type="slidenum">
              <a:rPr lang="fr-FR" smtClean="0"/>
              <a:pPr rtl="0"/>
              <a:t>8</a:t>
            </a:fld>
            <a:endParaRPr lang="fr-FR"/>
          </a:p>
        </p:txBody>
      </p:sp>
      <p:pic>
        <p:nvPicPr>
          <p:cNvPr id="40" name="Image 3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E77BE51D-6616-B008-F0F1-B200444A4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33" y="2357851"/>
            <a:ext cx="11451167" cy="310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622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E810E-8E37-1D8A-245B-020E4E4C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>
                <a:solidFill>
                  <a:srgbClr val="1CDFF5"/>
                </a:solidFill>
                <a:latin typeface="Biome"/>
                <a:cs typeface="Biome"/>
              </a:rPr>
              <a:t>Recommandations</a:t>
            </a:r>
            <a:endParaRPr lang="fr-FR">
              <a:solidFill>
                <a:srgbClr val="1CDFF5"/>
              </a:solidFill>
              <a:latin typeface="Biome"/>
            </a:endParaRPr>
          </a:p>
        </p:txBody>
      </p:sp>
      <p:pic>
        <p:nvPicPr>
          <p:cNvPr id="5" name="Image 4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47F438AC-1DE0-8509-6F9A-4F46A372A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20" y="2289799"/>
            <a:ext cx="11543732" cy="321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9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49600_TF11936837_Win32" id="{70EA47D8-BF97-41C7-A938-8129D3ABCA78}" vid="{1BCC3B6B-BAF1-48BD-9EED-6CD6B5C31AE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24b5d5-bdee-4f1d-a94d-9156e6d55be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F37E1D0884FD4E9193FD8671202E71" ma:contentTypeVersion="8" ma:contentTypeDescription="Create a new document." ma:contentTypeScope="" ma:versionID="189b4db892843d56d621eefbcee90a52">
  <xsd:schema xmlns:xsd="http://www.w3.org/2001/XMLSchema" xmlns:xs="http://www.w3.org/2001/XMLSchema" xmlns:p="http://schemas.microsoft.com/office/2006/metadata/properties" xmlns:ns3="3824b5d5-bdee-4f1d-a94d-9156e6d55be7" xmlns:ns4="20babd34-f604-46a3-b435-38e7301bca07" targetNamespace="http://schemas.microsoft.com/office/2006/metadata/properties" ma:root="true" ma:fieldsID="a22bbec890f9779d7efe6243aa07e558" ns3:_="" ns4:_="">
    <xsd:import namespace="3824b5d5-bdee-4f1d-a94d-9156e6d55be7"/>
    <xsd:import namespace="20babd34-f604-46a3-b435-38e7301bca0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24b5d5-bdee-4f1d-a94d-9156e6d55be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babd34-f604-46a3-b435-38e7301bca0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20babd34-f604-46a3-b435-38e7301bca07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3824b5d5-bdee-4f1d-a94d-9156e6d55be7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54CD997-5156-476D-B483-22CF15904D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24b5d5-bdee-4f1d-a94d-9156e6d55be7"/>
    <ds:schemaRef ds:uri="20babd34-f604-46a3-b435-38e7301bca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de résultats scientifiques</Template>
  <TotalTime>140</TotalTime>
  <Words>114</Words>
  <Application>Microsoft Office PowerPoint</Application>
  <PresentationFormat>Grand écran</PresentationFormat>
  <Paragraphs>85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Arial Nova</vt:lpstr>
      <vt:lpstr>Biome</vt:lpstr>
      <vt:lpstr>Calibri</vt:lpstr>
      <vt:lpstr>Inter</vt:lpstr>
      <vt:lpstr>Personnalisé</vt:lpstr>
      <vt:lpstr>SECURITE iOT</vt:lpstr>
      <vt:lpstr>Programme</vt:lpstr>
      <vt:lpstr>Résumé - TPLink Archer AX23 v1 </vt:lpstr>
      <vt:lpstr>Périmètre et méthodologie</vt:lpstr>
      <vt:lpstr>Architecture</vt:lpstr>
      <vt:lpstr>STrIDE</vt:lpstr>
      <vt:lpstr>Vulnérabilités</vt:lpstr>
      <vt:lpstr>IMPACT BUSSINESS et utilisateurs</vt:lpstr>
      <vt:lpstr>Recommandations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Anne-Laure JEAN LOUIS</dc:creator>
  <cp:lastModifiedBy>Aly DARWISH</cp:lastModifiedBy>
  <cp:revision>2</cp:revision>
  <dcterms:created xsi:type="dcterms:W3CDTF">2026-04-03T08:13:52Z</dcterms:created>
  <dcterms:modified xsi:type="dcterms:W3CDTF">2026-04-03T12:23:36Z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0x01010099F37E1D0884FD4E9193FD8671202E71</vt:lpwstr>
  </property>
</Properties>
</file>